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nva Sans Bold" panose="020B0604020202020204" charset="0"/>
      <p:regular r:id="rId29"/>
    </p:embeddedFont>
    <p:embeddedFont>
      <p:font typeface="Futura Display" panose="020B0604020202020204" charset="0"/>
      <p:regular r:id="rId30"/>
    </p:embeddedFont>
    <p:embeddedFont>
      <p:font typeface="Lexend Deca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3" d="100"/>
          <a:sy n="103" d="100"/>
        </p:scale>
        <p:origin x="53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market+research+and+data+collection+firms&amp;sca_esv=6036db4e80af994f&amp;sxsrf=AE3TifPLX97Nbfvsauw49hKWXa2m7lPvYA:1764263738354&amp;ei=OocoafeuFZmPi-gPlv-uuAE&amp;ved=2ahUKEwju2-DT6pKRAxVA2wIHHUFfD_0QgK4QegQIARAC&amp;uact=5&amp;oq=survey+company+&amp;gs_lp=Egxnd3Mtd2l6LXNlcnAiD3N1cnZleSBjb21wYW55IDIKECMYgAQYJxiKBTIFEAAYgAQyBRAAGIAEMgUQABiABDIFEAAYgAQyBRAAGIAEMgUQABiABDIFEAAYgAQyBRAAGIAEMgUQABiABEizGVDoBljeEnABeAGQAQCYAc8BoAHODaoBBTAuOS4xuAEDyAEA-AEBmAIEoAKABMICChAAGLADGNYEGEfCAgYQABgWGB6YAwCIBgGQBgiSBwMxLjOgB9FasgcDMC4zuAf5A8IHBTItMy4xyAcd&amp;sclient=gws-wiz-serp&amp;mstk=AUtExfABmiMnoM_evnokXjRNOXv4zZiczn346bvNvdcdigFa1PTaAJWbBvbKzyKD2hqnvmsv8QuR8rhPjgOj-isJ2dGjwSSI4UGqtyC3W-ri4UV1Ntv1-Jt6v6Wb4C67mVa2cSmXdV8R1iW6JEaX-L8jcTTjU1QjVbSrffPwYvb0OSfENPRd3vFHPA-WpP7VZWa522gIuD-s764r69psV8vpj4VhgJOO24zWaTN0QaHQyHstV1aE8egY5yS6F6JKcVi7u7gMO8hNK0OwGCnNGuM7i84U&amp;csui=3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-2285506" y="-4771437"/>
            <a:ext cx="22859012" cy="17585432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028700" y="2473872"/>
            <a:ext cx="16230600" cy="3609353"/>
            <a:chOff x="0" y="0"/>
            <a:chExt cx="3655013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5013" cy="812800"/>
            </a:xfrm>
            <a:custGeom>
              <a:avLst/>
              <a:gdLst/>
              <a:ahLst/>
              <a:cxnLst/>
              <a:rect l="l" t="t" r="r" b="b"/>
              <a:pathLst>
                <a:path w="3655013" h="812800">
                  <a:moveTo>
                    <a:pt x="24327" y="0"/>
                  </a:moveTo>
                  <a:lnTo>
                    <a:pt x="3630686" y="0"/>
                  </a:lnTo>
                  <a:cubicBezTo>
                    <a:pt x="3644121" y="0"/>
                    <a:pt x="3655013" y="10891"/>
                    <a:pt x="3655013" y="24327"/>
                  </a:cubicBezTo>
                  <a:lnTo>
                    <a:pt x="3655013" y="788473"/>
                  </a:lnTo>
                  <a:cubicBezTo>
                    <a:pt x="3655013" y="801909"/>
                    <a:pt x="3644121" y="812800"/>
                    <a:pt x="3630686" y="812800"/>
                  </a:cubicBezTo>
                  <a:lnTo>
                    <a:pt x="24327" y="812800"/>
                  </a:lnTo>
                  <a:cubicBezTo>
                    <a:pt x="10891" y="812800"/>
                    <a:pt x="0" y="801909"/>
                    <a:pt x="0" y="788473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55013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52563" y="3184998"/>
            <a:ext cx="14982874" cy="1958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51"/>
              </a:lnSpc>
            </a:pPr>
            <a:r>
              <a:rPr lang="en-US" sz="11393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DIABETES HEALTH INDICATORS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56574" y="6218623"/>
            <a:ext cx="15574851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UNDERSTANDING PATIENT PROFILES WITH FEATURES BASED ON DEMOGRAPHICS, LIFESTYLE HABITS, FAMILY HISTORY, AND CLINICAL MEASUREMENTS THAT ARE WELL-ESTABLISHED INDICATORS OF DIABETES RISK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33928" y="8428574"/>
            <a:ext cx="282014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 u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BY : ALI IBRAHIM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1272" y="-620353"/>
            <a:ext cx="19344569" cy="6105039"/>
            <a:chOff x="0" y="0"/>
            <a:chExt cx="4356256" cy="13748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255" cy="1374810"/>
            </a:xfrm>
            <a:custGeom>
              <a:avLst/>
              <a:gdLst/>
              <a:ahLst/>
              <a:cxnLst/>
              <a:rect l="l" t="t" r="r" b="b"/>
              <a:pathLst>
                <a:path w="4356255" h="1374810">
                  <a:moveTo>
                    <a:pt x="0" y="0"/>
                  </a:moveTo>
                  <a:lnTo>
                    <a:pt x="4356255" y="0"/>
                  </a:lnTo>
                  <a:lnTo>
                    <a:pt x="4356255" y="1374810"/>
                  </a:lnTo>
                  <a:lnTo>
                    <a:pt x="0" y="1374810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56256" cy="14129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272885" y="622421"/>
            <a:ext cx="10768843" cy="149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72"/>
              </a:lnSpc>
            </a:pPr>
            <a:r>
              <a:rPr lang="en-US" sz="11638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CAUSES OF DIABETES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24415" y="2586466"/>
            <a:ext cx="9865783" cy="2557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6"/>
              </a:lnSpc>
              <a:spcBef>
                <a:spcPct val="0"/>
              </a:spcBef>
            </a:pPr>
            <a:r>
              <a:rPr lang="en-US" sz="3683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Our goal is to analyze diabetes as a disease through number of variables so we can produce a medical solution to this age disease.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5712" y="5951411"/>
            <a:ext cx="16230600" cy="3852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3"/>
              </a:lnSpc>
            </a:pPr>
            <a:r>
              <a:rPr lang="en-US" sz="376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Diabetes Types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-No Diabetes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-Prediabetes is a serious health condition that increases the risk of developing type 2 diabetes, heart disease, and stroke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-Type 1 is an autoimmune condition where the immune system attacks insulin-producing cells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-Type 2 results from a combination of genetics, lifestyle factors like inactivity and obesity, and insulin resistance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-Gestational diabetes is caused by pregnancy-related hormonal changes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5947" y="813262"/>
            <a:ext cx="5093535" cy="50960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1272" y="-620353"/>
            <a:ext cx="19344569" cy="4268064"/>
            <a:chOff x="0" y="0"/>
            <a:chExt cx="4356256" cy="9611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255" cy="961137"/>
            </a:xfrm>
            <a:custGeom>
              <a:avLst/>
              <a:gdLst/>
              <a:ahLst/>
              <a:cxnLst/>
              <a:rect l="l" t="t" r="r" b="b"/>
              <a:pathLst>
                <a:path w="4356255" h="961137">
                  <a:moveTo>
                    <a:pt x="0" y="0"/>
                  </a:moveTo>
                  <a:lnTo>
                    <a:pt x="4356255" y="0"/>
                  </a:lnTo>
                  <a:lnTo>
                    <a:pt x="4356255" y="961137"/>
                  </a:lnTo>
                  <a:lnTo>
                    <a:pt x="0" y="961137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56256" cy="999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24369" y="413184"/>
            <a:ext cx="16639261" cy="149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72"/>
              </a:lnSpc>
            </a:pPr>
            <a:r>
              <a:rPr lang="en-US" sz="11638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VARIABLES AFFECTING DIABETES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871772" y="5226543"/>
            <a:ext cx="2966226" cy="2709266"/>
            <a:chOff x="0" y="0"/>
            <a:chExt cx="812800" cy="7423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42388"/>
            </a:xfrm>
            <a:custGeom>
              <a:avLst/>
              <a:gdLst/>
              <a:ahLst/>
              <a:cxnLst/>
              <a:rect l="l" t="t" r="r" b="b"/>
              <a:pathLst>
                <a:path w="812800" h="742388">
                  <a:moveTo>
                    <a:pt x="406400" y="0"/>
                  </a:moveTo>
                  <a:cubicBezTo>
                    <a:pt x="181951" y="0"/>
                    <a:pt x="0" y="166189"/>
                    <a:pt x="0" y="371194"/>
                  </a:cubicBezTo>
                  <a:cubicBezTo>
                    <a:pt x="0" y="576199"/>
                    <a:pt x="181951" y="742388"/>
                    <a:pt x="406400" y="742388"/>
                  </a:cubicBezTo>
                  <a:cubicBezTo>
                    <a:pt x="630849" y="742388"/>
                    <a:pt x="812800" y="576199"/>
                    <a:pt x="812800" y="371194"/>
                  </a:cubicBezTo>
                  <a:cubicBezTo>
                    <a:pt x="812800" y="16618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CE5E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1499"/>
              <a:ext cx="660400" cy="641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971673" y="6364006"/>
            <a:ext cx="2766424" cy="44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SMOKING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69800" y="3866421"/>
            <a:ext cx="2768719" cy="276871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8BBA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45094" y="4994241"/>
            <a:ext cx="2418130" cy="44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DNA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263" y="7086263"/>
            <a:ext cx="3491713" cy="3491713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7902171" y="5504608"/>
            <a:ext cx="2817681" cy="281768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CE5E8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90852" y="4340260"/>
            <a:ext cx="2852722" cy="285272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8BBA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927800" y="6749117"/>
            <a:ext cx="2766424" cy="44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ALCOHOL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08148" y="5330376"/>
            <a:ext cx="2418130" cy="882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SOCIAL </a:t>
            </a:r>
          </a:p>
          <a:p>
            <a:pPr algn="ctr">
              <a:lnSpc>
                <a:spcPts val="3479"/>
              </a:lnSpc>
            </a:pPr>
            <a:r>
              <a:rPr lang="en-US" sz="3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CLASS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273307" y="4663769"/>
            <a:ext cx="2734854" cy="2734854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8BBA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431669" y="5885781"/>
            <a:ext cx="2418130" cy="44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GENDER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1640734" y="6406358"/>
            <a:ext cx="2734854" cy="2734854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CE5E8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016060" y="7337540"/>
            <a:ext cx="1984202" cy="882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PHYSICAL </a:t>
            </a:r>
          </a:p>
          <a:p>
            <a:pPr algn="ctr">
              <a:lnSpc>
                <a:spcPts val="3479"/>
              </a:lnSpc>
            </a:pPr>
            <a:r>
              <a:rPr lang="en-US" sz="30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ACTIVITY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3424748" y="4962219"/>
            <a:ext cx="2734854" cy="2734854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8BBA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3583109" y="6112476"/>
            <a:ext cx="2418130" cy="44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5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27350" y="4660916"/>
            <a:ext cx="12572941" cy="1297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53"/>
              </a:lnSpc>
            </a:pPr>
            <a:r>
              <a:rPr lang="en-US" sz="9201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Let’s explore our dataset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6764" y="513874"/>
            <a:ext cx="9264014" cy="92592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1887406" cy="10287000"/>
            <a:chOff x="0" y="0"/>
            <a:chExt cx="2676957" cy="23165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76957" cy="2316557"/>
            </a:xfrm>
            <a:custGeom>
              <a:avLst/>
              <a:gdLst/>
              <a:ahLst/>
              <a:cxnLst/>
              <a:rect l="l" t="t" r="r" b="b"/>
              <a:pathLst>
                <a:path w="2676957" h="2316557">
                  <a:moveTo>
                    <a:pt x="0" y="0"/>
                  </a:moveTo>
                  <a:lnTo>
                    <a:pt x="2676957" y="0"/>
                  </a:lnTo>
                  <a:lnTo>
                    <a:pt x="2676957" y="2316557"/>
                  </a:lnTo>
                  <a:lnTo>
                    <a:pt x="0" y="2316557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76957" cy="2354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327276" y="5791200"/>
            <a:ext cx="6871582" cy="1931480"/>
            <a:chOff x="0" y="0"/>
            <a:chExt cx="1547430" cy="43495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47430" cy="434955"/>
            </a:xfrm>
            <a:custGeom>
              <a:avLst/>
              <a:gdLst/>
              <a:ahLst/>
              <a:cxnLst/>
              <a:rect l="l" t="t" r="r" b="b"/>
              <a:pathLst>
                <a:path w="1547430" h="434955">
                  <a:moveTo>
                    <a:pt x="57460" y="0"/>
                  </a:moveTo>
                  <a:lnTo>
                    <a:pt x="1489971" y="0"/>
                  </a:lnTo>
                  <a:cubicBezTo>
                    <a:pt x="1505210" y="0"/>
                    <a:pt x="1519825" y="6054"/>
                    <a:pt x="1530601" y="16830"/>
                  </a:cubicBezTo>
                  <a:cubicBezTo>
                    <a:pt x="1541376" y="27605"/>
                    <a:pt x="1547430" y="42220"/>
                    <a:pt x="1547430" y="57460"/>
                  </a:cubicBezTo>
                  <a:lnTo>
                    <a:pt x="1547430" y="377496"/>
                  </a:lnTo>
                  <a:cubicBezTo>
                    <a:pt x="1547430" y="409230"/>
                    <a:pt x="1521705" y="434955"/>
                    <a:pt x="1489971" y="434955"/>
                  </a:cubicBezTo>
                  <a:lnTo>
                    <a:pt x="57460" y="434955"/>
                  </a:lnTo>
                  <a:cubicBezTo>
                    <a:pt x="42220" y="434955"/>
                    <a:pt x="27605" y="428901"/>
                    <a:pt x="16830" y="418126"/>
                  </a:cubicBezTo>
                  <a:cubicBezTo>
                    <a:pt x="6054" y="407350"/>
                    <a:pt x="0" y="392735"/>
                    <a:pt x="0" y="377496"/>
                  </a:cubicBezTo>
                  <a:lnTo>
                    <a:pt x="0" y="57460"/>
                  </a:lnTo>
                  <a:cubicBezTo>
                    <a:pt x="0" y="42220"/>
                    <a:pt x="6054" y="27605"/>
                    <a:pt x="16830" y="16830"/>
                  </a:cubicBezTo>
                  <a:cubicBezTo>
                    <a:pt x="27605" y="6054"/>
                    <a:pt x="42220" y="0"/>
                    <a:pt x="57460" y="0"/>
                  </a:cubicBezTo>
                  <a:close/>
                </a:path>
              </a:pathLst>
            </a:custGeom>
            <a:solidFill>
              <a:srgbClr val="DAE9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47430" cy="473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1887406" y="0"/>
            <a:ext cx="6400594" cy="10287000"/>
          </a:xfrm>
          <a:custGeom>
            <a:avLst/>
            <a:gdLst/>
            <a:ahLst/>
            <a:cxnLst/>
            <a:rect l="l" t="t" r="r" b="b"/>
            <a:pathLst>
              <a:path w="6400594" h="10287000">
                <a:moveTo>
                  <a:pt x="0" y="0"/>
                </a:moveTo>
                <a:lnTo>
                  <a:pt x="6400594" y="0"/>
                </a:lnTo>
                <a:lnTo>
                  <a:pt x="640059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0" b="-380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87350" y="488837"/>
            <a:ext cx="5551433" cy="2525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37"/>
              </a:lnSpc>
            </a:pPr>
            <a:r>
              <a:rPr lang="en-US" sz="10038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DATASET OVERVIEW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988" y="3227281"/>
            <a:ext cx="10925430" cy="256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5222" lvl="1" indent="-397611" algn="l">
              <a:lnSpc>
                <a:spcPts val="5156"/>
              </a:lnSpc>
              <a:buFont typeface="Arial"/>
              <a:buChar char="•"/>
            </a:pPr>
            <a:r>
              <a:rPr lang="en-US" sz="3683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Our dataset contains 31 features in a study involving 100,000 individuals</a:t>
            </a:r>
          </a:p>
          <a:p>
            <a:pPr marL="795222" lvl="1" indent="-397611" algn="l">
              <a:lnSpc>
                <a:spcPts val="5156"/>
              </a:lnSpc>
              <a:buFont typeface="Arial"/>
              <a:buChar char="•"/>
            </a:pPr>
            <a:r>
              <a:rPr lang="en-US" sz="3683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No missing or duplicate data were found </a:t>
            </a:r>
          </a:p>
          <a:p>
            <a:pPr algn="l">
              <a:lnSpc>
                <a:spcPts val="5156"/>
              </a:lnSpc>
              <a:spcBef>
                <a:spcPct val="0"/>
              </a:spcBef>
            </a:pPr>
            <a:endParaRPr lang="en-US" sz="3683">
              <a:solidFill>
                <a:srgbClr val="FFFFFF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754312" y="6302915"/>
            <a:ext cx="6017509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All data types must be checked and validated before working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0"/>
            <a:ext cx="9144000" cy="10287000"/>
            <a:chOff x="0" y="0"/>
            <a:chExt cx="2059162" cy="23165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9162" cy="2316557"/>
            </a:xfrm>
            <a:custGeom>
              <a:avLst/>
              <a:gdLst/>
              <a:ahLst/>
              <a:cxnLst/>
              <a:rect l="l" t="t" r="r" b="b"/>
              <a:pathLst>
                <a:path w="2059162" h="2316557">
                  <a:moveTo>
                    <a:pt x="0" y="0"/>
                  </a:moveTo>
                  <a:lnTo>
                    <a:pt x="2059162" y="0"/>
                  </a:lnTo>
                  <a:lnTo>
                    <a:pt x="2059162" y="2316557"/>
                  </a:lnTo>
                  <a:lnTo>
                    <a:pt x="0" y="2316557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59162" cy="2354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331271" y="6119078"/>
            <a:ext cx="6871582" cy="1857772"/>
            <a:chOff x="0" y="0"/>
            <a:chExt cx="1547430" cy="4183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47430" cy="418357"/>
            </a:xfrm>
            <a:custGeom>
              <a:avLst/>
              <a:gdLst/>
              <a:ahLst/>
              <a:cxnLst/>
              <a:rect l="l" t="t" r="r" b="b"/>
              <a:pathLst>
                <a:path w="1547430" h="418357">
                  <a:moveTo>
                    <a:pt x="57460" y="0"/>
                  </a:moveTo>
                  <a:lnTo>
                    <a:pt x="1489971" y="0"/>
                  </a:lnTo>
                  <a:cubicBezTo>
                    <a:pt x="1505210" y="0"/>
                    <a:pt x="1519825" y="6054"/>
                    <a:pt x="1530601" y="16830"/>
                  </a:cubicBezTo>
                  <a:cubicBezTo>
                    <a:pt x="1541376" y="27605"/>
                    <a:pt x="1547430" y="42220"/>
                    <a:pt x="1547430" y="57460"/>
                  </a:cubicBezTo>
                  <a:lnTo>
                    <a:pt x="1547430" y="360897"/>
                  </a:lnTo>
                  <a:cubicBezTo>
                    <a:pt x="1547430" y="376136"/>
                    <a:pt x="1541376" y="390752"/>
                    <a:pt x="1530601" y="401527"/>
                  </a:cubicBezTo>
                  <a:cubicBezTo>
                    <a:pt x="1519825" y="412303"/>
                    <a:pt x="1505210" y="418357"/>
                    <a:pt x="1489971" y="418357"/>
                  </a:cubicBezTo>
                  <a:lnTo>
                    <a:pt x="57460" y="418357"/>
                  </a:lnTo>
                  <a:cubicBezTo>
                    <a:pt x="42220" y="418357"/>
                    <a:pt x="27605" y="412303"/>
                    <a:pt x="16830" y="401527"/>
                  </a:cubicBezTo>
                  <a:cubicBezTo>
                    <a:pt x="6054" y="390752"/>
                    <a:pt x="0" y="376136"/>
                    <a:pt x="0" y="360897"/>
                  </a:cubicBezTo>
                  <a:lnTo>
                    <a:pt x="0" y="57460"/>
                  </a:lnTo>
                  <a:cubicBezTo>
                    <a:pt x="0" y="42220"/>
                    <a:pt x="6054" y="27605"/>
                    <a:pt x="16830" y="16830"/>
                  </a:cubicBezTo>
                  <a:cubicBezTo>
                    <a:pt x="27605" y="6054"/>
                    <a:pt x="42220" y="0"/>
                    <a:pt x="57460" y="0"/>
                  </a:cubicBezTo>
                  <a:close/>
                </a:path>
              </a:pathLst>
            </a:custGeom>
            <a:solidFill>
              <a:srgbClr val="DAE9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47430" cy="456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16933" y="661207"/>
            <a:ext cx="3395449" cy="2745539"/>
          </a:xfrm>
          <a:custGeom>
            <a:avLst/>
            <a:gdLst/>
            <a:ahLst/>
            <a:cxnLst/>
            <a:rect l="l" t="t" r="r" b="b"/>
            <a:pathLst>
              <a:path w="3395449" h="2745539">
                <a:moveTo>
                  <a:pt x="0" y="0"/>
                </a:moveTo>
                <a:lnTo>
                  <a:pt x="3395449" y="0"/>
                </a:lnTo>
                <a:lnTo>
                  <a:pt x="3395449" y="2745539"/>
                </a:lnTo>
                <a:lnTo>
                  <a:pt x="0" y="2745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4519324"/>
            <a:ext cx="9144000" cy="5750608"/>
          </a:xfrm>
          <a:custGeom>
            <a:avLst/>
            <a:gdLst/>
            <a:ahLst/>
            <a:cxnLst/>
            <a:rect l="l" t="t" r="r" b="b"/>
            <a:pathLst>
              <a:path w="9144000" h="5750608">
                <a:moveTo>
                  <a:pt x="0" y="0"/>
                </a:moveTo>
                <a:lnTo>
                  <a:pt x="9144000" y="0"/>
                </a:lnTo>
                <a:lnTo>
                  <a:pt x="9144000" y="5750607"/>
                </a:lnTo>
                <a:lnTo>
                  <a:pt x="0" y="5750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623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582023" y="219544"/>
            <a:ext cx="6267955" cy="249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FEATURE ENGINEERING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05576" y="3101139"/>
            <a:ext cx="8782424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Steps: 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Remove missing / inconsistent data → NA 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created new column : age_group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01316" y="6374864"/>
            <a:ext cx="6531491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By categorizing test individuals into age groups we can notice how diabetes spread across groups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1272" y="-620353"/>
            <a:ext cx="9246124" cy="11212735"/>
            <a:chOff x="0" y="0"/>
            <a:chExt cx="2082160" cy="25250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82160" cy="2525026"/>
            </a:xfrm>
            <a:custGeom>
              <a:avLst/>
              <a:gdLst/>
              <a:ahLst/>
              <a:cxnLst/>
              <a:rect l="l" t="t" r="r" b="b"/>
              <a:pathLst>
                <a:path w="2082160" h="2525026">
                  <a:moveTo>
                    <a:pt x="0" y="0"/>
                  </a:moveTo>
                  <a:lnTo>
                    <a:pt x="2082160" y="0"/>
                  </a:lnTo>
                  <a:lnTo>
                    <a:pt x="2082160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82160" cy="2563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884852" y="3838628"/>
            <a:ext cx="9403148" cy="6448372"/>
          </a:xfrm>
          <a:custGeom>
            <a:avLst/>
            <a:gdLst/>
            <a:ahLst/>
            <a:cxnLst/>
            <a:rect l="l" t="t" r="r" b="b"/>
            <a:pathLst>
              <a:path w="9403148" h="6448372">
                <a:moveTo>
                  <a:pt x="0" y="0"/>
                </a:moveTo>
                <a:lnTo>
                  <a:pt x="9403148" y="0"/>
                </a:lnTo>
                <a:lnTo>
                  <a:pt x="9403148" y="6448372"/>
                </a:lnTo>
                <a:lnTo>
                  <a:pt x="0" y="6448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7" t="-2872" r="-1236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58000" y="795816"/>
            <a:ext cx="6807579" cy="249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UNIVARIATE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2851" y="4938389"/>
            <a:ext cx="6297879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Gender Distribution in out dataset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Female      50216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Male          47771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Other         2013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31431" y="0"/>
            <a:ext cx="8456569" cy="10287000"/>
            <a:chOff x="0" y="0"/>
            <a:chExt cx="1904358" cy="23165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04358" cy="2316557"/>
            </a:xfrm>
            <a:custGeom>
              <a:avLst/>
              <a:gdLst/>
              <a:ahLst/>
              <a:cxnLst/>
              <a:rect l="l" t="t" r="r" b="b"/>
              <a:pathLst>
                <a:path w="1904358" h="2316557">
                  <a:moveTo>
                    <a:pt x="0" y="0"/>
                  </a:moveTo>
                  <a:lnTo>
                    <a:pt x="1904358" y="0"/>
                  </a:lnTo>
                  <a:lnTo>
                    <a:pt x="1904358" y="2316557"/>
                  </a:lnTo>
                  <a:lnTo>
                    <a:pt x="0" y="2316557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04358" cy="2354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4124586"/>
            <a:ext cx="9831431" cy="6144644"/>
          </a:xfrm>
          <a:custGeom>
            <a:avLst/>
            <a:gdLst/>
            <a:ahLst/>
            <a:cxnLst/>
            <a:rect l="l" t="t" r="r" b="b"/>
            <a:pathLst>
              <a:path w="9831431" h="6144644">
                <a:moveTo>
                  <a:pt x="0" y="0"/>
                </a:moveTo>
                <a:lnTo>
                  <a:pt x="9831431" y="0"/>
                </a:lnTo>
                <a:lnTo>
                  <a:pt x="9831431" y="6144644"/>
                </a:lnTo>
                <a:lnTo>
                  <a:pt x="0" y="6144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064456" y="829592"/>
            <a:ext cx="7990519" cy="249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NUMERIC MEDICAL FEATURE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31431" y="0"/>
            <a:ext cx="8456569" cy="10287000"/>
            <a:chOff x="0" y="0"/>
            <a:chExt cx="1904358" cy="23165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04358" cy="2316557"/>
            </a:xfrm>
            <a:custGeom>
              <a:avLst/>
              <a:gdLst/>
              <a:ahLst/>
              <a:cxnLst/>
              <a:rect l="l" t="t" r="r" b="b"/>
              <a:pathLst>
                <a:path w="1904358" h="2316557">
                  <a:moveTo>
                    <a:pt x="0" y="0"/>
                  </a:moveTo>
                  <a:lnTo>
                    <a:pt x="1904358" y="0"/>
                  </a:lnTo>
                  <a:lnTo>
                    <a:pt x="1904358" y="2316557"/>
                  </a:lnTo>
                  <a:lnTo>
                    <a:pt x="0" y="2316557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04358" cy="2354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4142356"/>
            <a:ext cx="9831431" cy="6144644"/>
          </a:xfrm>
          <a:custGeom>
            <a:avLst/>
            <a:gdLst/>
            <a:ahLst/>
            <a:cxnLst/>
            <a:rect l="l" t="t" r="r" b="b"/>
            <a:pathLst>
              <a:path w="9831431" h="6144644">
                <a:moveTo>
                  <a:pt x="0" y="0"/>
                </a:moveTo>
                <a:lnTo>
                  <a:pt x="9831431" y="0"/>
                </a:lnTo>
                <a:lnTo>
                  <a:pt x="9831431" y="6144644"/>
                </a:lnTo>
                <a:lnTo>
                  <a:pt x="0" y="6144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064456" y="394247"/>
            <a:ext cx="7990519" cy="249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NUMERIC MEDICAL FEATURE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39127" y="3384550"/>
            <a:ext cx="6641177" cy="217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BMI 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Underweight: Less than 18.5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Healthy Weight: 18.5–24.9 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Overweight: 25.0–29.9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Obesity: 30.0 or greater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31431" y="0"/>
            <a:ext cx="8456569" cy="10287000"/>
            <a:chOff x="0" y="0"/>
            <a:chExt cx="1904358" cy="23165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04358" cy="2316557"/>
            </a:xfrm>
            <a:custGeom>
              <a:avLst/>
              <a:gdLst/>
              <a:ahLst/>
              <a:cxnLst/>
              <a:rect l="l" t="t" r="r" b="b"/>
              <a:pathLst>
                <a:path w="1904358" h="2316557">
                  <a:moveTo>
                    <a:pt x="0" y="0"/>
                  </a:moveTo>
                  <a:lnTo>
                    <a:pt x="1904358" y="0"/>
                  </a:lnTo>
                  <a:lnTo>
                    <a:pt x="1904358" y="2316557"/>
                  </a:lnTo>
                  <a:lnTo>
                    <a:pt x="0" y="2316557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04358" cy="2354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4124586"/>
            <a:ext cx="9831431" cy="6144644"/>
          </a:xfrm>
          <a:custGeom>
            <a:avLst/>
            <a:gdLst/>
            <a:ahLst/>
            <a:cxnLst/>
            <a:rect l="l" t="t" r="r" b="b"/>
            <a:pathLst>
              <a:path w="9831431" h="6144644">
                <a:moveTo>
                  <a:pt x="0" y="0"/>
                </a:moveTo>
                <a:lnTo>
                  <a:pt x="9831431" y="0"/>
                </a:lnTo>
                <a:lnTo>
                  <a:pt x="9831431" y="6144644"/>
                </a:lnTo>
                <a:lnTo>
                  <a:pt x="0" y="6144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064456" y="394247"/>
            <a:ext cx="7990519" cy="249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NUMERIC MEDICAL FEATURE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39127" y="3384550"/>
            <a:ext cx="6641177" cy="261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HbA1c measures your average blood sugar (glucose) levels over the past two to three months.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Normal: Below 5.7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Prediabetes 5.7 to 6.4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Diabetes 6.5 or greater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623924" y="6932935"/>
            <a:ext cx="6871582" cy="1793277"/>
            <a:chOff x="0" y="0"/>
            <a:chExt cx="1547430" cy="4038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47430" cy="403833"/>
            </a:xfrm>
            <a:custGeom>
              <a:avLst/>
              <a:gdLst/>
              <a:ahLst/>
              <a:cxnLst/>
              <a:rect l="l" t="t" r="r" b="b"/>
              <a:pathLst>
                <a:path w="1547430" h="403833">
                  <a:moveTo>
                    <a:pt x="57460" y="0"/>
                  </a:moveTo>
                  <a:lnTo>
                    <a:pt x="1489971" y="0"/>
                  </a:lnTo>
                  <a:cubicBezTo>
                    <a:pt x="1505210" y="0"/>
                    <a:pt x="1519825" y="6054"/>
                    <a:pt x="1530601" y="16830"/>
                  </a:cubicBezTo>
                  <a:cubicBezTo>
                    <a:pt x="1541376" y="27605"/>
                    <a:pt x="1547430" y="42220"/>
                    <a:pt x="1547430" y="57460"/>
                  </a:cubicBezTo>
                  <a:lnTo>
                    <a:pt x="1547430" y="346373"/>
                  </a:lnTo>
                  <a:cubicBezTo>
                    <a:pt x="1547430" y="378107"/>
                    <a:pt x="1521705" y="403833"/>
                    <a:pt x="1489971" y="403833"/>
                  </a:cubicBezTo>
                  <a:lnTo>
                    <a:pt x="57460" y="403833"/>
                  </a:lnTo>
                  <a:cubicBezTo>
                    <a:pt x="42220" y="403833"/>
                    <a:pt x="27605" y="397779"/>
                    <a:pt x="16830" y="387003"/>
                  </a:cubicBezTo>
                  <a:cubicBezTo>
                    <a:pt x="6054" y="376228"/>
                    <a:pt x="0" y="361613"/>
                    <a:pt x="0" y="346373"/>
                  </a:cubicBezTo>
                  <a:lnTo>
                    <a:pt x="0" y="57460"/>
                  </a:lnTo>
                  <a:cubicBezTo>
                    <a:pt x="0" y="42220"/>
                    <a:pt x="6054" y="27605"/>
                    <a:pt x="16830" y="16830"/>
                  </a:cubicBezTo>
                  <a:cubicBezTo>
                    <a:pt x="27605" y="6054"/>
                    <a:pt x="42220" y="0"/>
                    <a:pt x="57460" y="0"/>
                  </a:cubicBezTo>
                  <a:close/>
                </a:path>
              </a:pathLst>
            </a:custGeom>
            <a:solidFill>
              <a:srgbClr val="DAE9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547430" cy="441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964015" y="7156474"/>
            <a:ext cx="6191400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HbA1c considered important because it tells us if the individual is at risk of diabetes</a:t>
            </a:r>
          </a:p>
        </p:txBody>
      </p:sp>
      <p:sp>
        <p:nvSpPr>
          <p:cNvPr id="12" name="Freeform 12"/>
          <p:cNvSpPr/>
          <p:nvPr/>
        </p:nvSpPr>
        <p:spPr>
          <a:xfrm>
            <a:off x="0" y="4098263"/>
            <a:ext cx="9831431" cy="6144644"/>
          </a:xfrm>
          <a:custGeom>
            <a:avLst/>
            <a:gdLst/>
            <a:ahLst/>
            <a:cxnLst/>
            <a:rect l="l" t="t" r="r" b="b"/>
            <a:pathLst>
              <a:path w="9831431" h="6144644">
                <a:moveTo>
                  <a:pt x="0" y="0"/>
                </a:moveTo>
                <a:lnTo>
                  <a:pt x="9831431" y="0"/>
                </a:lnTo>
                <a:lnTo>
                  <a:pt x="9831431" y="6144644"/>
                </a:lnTo>
                <a:lnTo>
                  <a:pt x="0" y="6144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31431" y="0"/>
            <a:ext cx="8456569" cy="10287000"/>
            <a:chOff x="0" y="0"/>
            <a:chExt cx="1904358" cy="23165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04358" cy="2316557"/>
            </a:xfrm>
            <a:custGeom>
              <a:avLst/>
              <a:gdLst/>
              <a:ahLst/>
              <a:cxnLst/>
              <a:rect l="l" t="t" r="r" b="b"/>
              <a:pathLst>
                <a:path w="1904358" h="2316557">
                  <a:moveTo>
                    <a:pt x="0" y="0"/>
                  </a:moveTo>
                  <a:lnTo>
                    <a:pt x="1904358" y="0"/>
                  </a:lnTo>
                  <a:lnTo>
                    <a:pt x="1904358" y="2316557"/>
                  </a:lnTo>
                  <a:lnTo>
                    <a:pt x="0" y="2316557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04358" cy="2354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4142356"/>
            <a:ext cx="9831431" cy="6144644"/>
          </a:xfrm>
          <a:custGeom>
            <a:avLst/>
            <a:gdLst/>
            <a:ahLst/>
            <a:cxnLst/>
            <a:rect l="l" t="t" r="r" b="b"/>
            <a:pathLst>
              <a:path w="9831431" h="6144644">
                <a:moveTo>
                  <a:pt x="0" y="0"/>
                </a:moveTo>
                <a:lnTo>
                  <a:pt x="9831431" y="0"/>
                </a:lnTo>
                <a:lnTo>
                  <a:pt x="9831431" y="6144644"/>
                </a:lnTo>
                <a:lnTo>
                  <a:pt x="0" y="6144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064456" y="394247"/>
            <a:ext cx="7990519" cy="249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NUMERIC MEDICAL FEATURE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39127" y="5039803"/>
            <a:ext cx="6641177" cy="217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Triglycerides 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Ideal: Less than 150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Borderline high: 150–199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High: 200–499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Very high: 500 or greater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1272" y="-620353"/>
            <a:ext cx="9246124" cy="11212735"/>
            <a:chOff x="0" y="0"/>
            <a:chExt cx="2082160" cy="25250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82160" cy="2525026"/>
            </a:xfrm>
            <a:custGeom>
              <a:avLst/>
              <a:gdLst/>
              <a:ahLst/>
              <a:cxnLst/>
              <a:rect l="l" t="t" r="r" b="b"/>
              <a:pathLst>
                <a:path w="2082160" h="2525026">
                  <a:moveTo>
                    <a:pt x="0" y="0"/>
                  </a:moveTo>
                  <a:lnTo>
                    <a:pt x="2082160" y="0"/>
                  </a:lnTo>
                  <a:lnTo>
                    <a:pt x="2082160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82160" cy="2563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884852" y="649394"/>
            <a:ext cx="9403148" cy="9637606"/>
          </a:xfrm>
          <a:custGeom>
            <a:avLst/>
            <a:gdLst/>
            <a:ahLst/>
            <a:cxnLst/>
            <a:rect l="l" t="t" r="r" b="b"/>
            <a:pathLst>
              <a:path w="9403148" h="9637606">
                <a:moveTo>
                  <a:pt x="0" y="0"/>
                </a:moveTo>
                <a:lnTo>
                  <a:pt x="9403148" y="0"/>
                </a:lnTo>
                <a:lnTo>
                  <a:pt x="9403148" y="9637606"/>
                </a:lnTo>
                <a:lnTo>
                  <a:pt x="0" y="9637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46" r="-124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43935" y="500063"/>
            <a:ext cx="7435710" cy="1285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DIABETES STAGE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7588" y="3316805"/>
            <a:ext cx="6748404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Pre-Diabetes is a warning sign that, if ignored, significantly increases the risk of developing full-blown type 2 diabetes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7588" y="4870873"/>
            <a:ext cx="6748404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type 1 is immune disease rare condition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FFFFFF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Gestational diabetes usually disappears after giving birth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1272" y="-620353"/>
            <a:ext cx="8939771" cy="11212735"/>
            <a:chOff x="0" y="0"/>
            <a:chExt cx="2013171" cy="25250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3171" cy="2525026"/>
            </a:xfrm>
            <a:custGeom>
              <a:avLst/>
              <a:gdLst/>
              <a:ahLst/>
              <a:cxnLst/>
              <a:rect l="l" t="t" r="r" b="b"/>
              <a:pathLst>
                <a:path w="2013171" h="2525026">
                  <a:moveTo>
                    <a:pt x="0" y="0"/>
                  </a:moveTo>
                  <a:lnTo>
                    <a:pt x="2013171" y="0"/>
                  </a:lnTo>
                  <a:lnTo>
                    <a:pt x="2013171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13171" cy="2563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578499" y="4256584"/>
            <a:ext cx="9709501" cy="6030416"/>
          </a:xfrm>
          <a:custGeom>
            <a:avLst/>
            <a:gdLst/>
            <a:ahLst/>
            <a:cxnLst/>
            <a:rect l="l" t="t" r="r" b="b"/>
            <a:pathLst>
              <a:path w="9709501" h="6030416">
                <a:moveTo>
                  <a:pt x="0" y="0"/>
                </a:moveTo>
                <a:lnTo>
                  <a:pt x="9709501" y="0"/>
                </a:lnTo>
                <a:lnTo>
                  <a:pt x="9709501" y="6030416"/>
                </a:lnTo>
                <a:lnTo>
                  <a:pt x="0" y="6030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" t="-716" r="-4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21544" y="4125589"/>
            <a:ext cx="7280492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Females diagnosed with diabetes are more than males maybe due to Gestational diabetes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7071" y="344347"/>
            <a:ext cx="7049437" cy="249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BIVARIATE</a:t>
            </a:r>
          </a:p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1272" y="-620353"/>
            <a:ext cx="8939771" cy="11212735"/>
            <a:chOff x="0" y="0"/>
            <a:chExt cx="2013171" cy="25250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3171" cy="2525026"/>
            </a:xfrm>
            <a:custGeom>
              <a:avLst/>
              <a:gdLst/>
              <a:ahLst/>
              <a:cxnLst/>
              <a:rect l="l" t="t" r="r" b="b"/>
              <a:pathLst>
                <a:path w="2013171" h="2525026">
                  <a:moveTo>
                    <a:pt x="0" y="0"/>
                  </a:moveTo>
                  <a:lnTo>
                    <a:pt x="2013171" y="0"/>
                  </a:lnTo>
                  <a:lnTo>
                    <a:pt x="2013171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13171" cy="2563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578499" y="4173214"/>
            <a:ext cx="9709501" cy="6068438"/>
          </a:xfrm>
          <a:custGeom>
            <a:avLst/>
            <a:gdLst/>
            <a:ahLst/>
            <a:cxnLst/>
            <a:rect l="l" t="t" r="r" b="b"/>
            <a:pathLst>
              <a:path w="9709501" h="6068438">
                <a:moveTo>
                  <a:pt x="0" y="0"/>
                </a:moveTo>
                <a:lnTo>
                  <a:pt x="9709501" y="0"/>
                </a:lnTo>
                <a:lnTo>
                  <a:pt x="9709501" y="6068439"/>
                </a:lnTo>
                <a:lnTo>
                  <a:pt x="0" y="60684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21544" y="4125589"/>
            <a:ext cx="7280492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30-49 age group is most affected group due to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work / lifestyle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7071" y="344347"/>
            <a:ext cx="7049437" cy="249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BIVARIATE</a:t>
            </a:r>
          </a:p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986741" cy="10287000"/>
            <a:chOff x="0" y="0"/>
            <a:chExt cx="1573363" cy="23165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73363" cy="2316557"/>
            </a:xfrm>
            <a:custGeom>
              <a:avLst/>
              <a:gdLst/>
              <a:ahLst/>
              <a:cxnLst/>
              <a:rect l="l" t="t" r="r" b="b"/>
              <a:pathLst>
                <a:path w="1573363" h="2316557">
                  <a:moveTo>
                    <a:pt x="0" y="0"/>
                  </a:moveTo>
                  <a:lnTo>
                    <a:pt x="1573363" y="0"/>
                  </a:lnTo>
                  <a:lnTo>
                    <a:pt x="1573363" y="2316557"/>
                  </a:lnTo>
                  <a:lnTo>
                    <a:pt x="0" y="2316557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73363" cy="2354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986741" y="4014801"/>
            <a:ext cx="11301259" cy="6272199"/>
          </a:xfrm>
          <a:custGeom>
            <a:avLst/>
            <a:gdLst/>
            <a:ahLst/>
            <a:cxnLst/>
            <a:rect l="l" t="t" r="r" b="b"/>
            <a:pathLst>
              <a:path w="11301259" h="6272199">
                <a:moveTo>
                  <a:pt x="0" y="0"/>
                </a:moveTo>
                <a:lnTo>
                  <a:pt x="11301259" y="0"/>
                </a:lnTo>
                <a:lnTo>
                  <a:pt x="11301259" y="6272199"/>
                </a:lnTo>
                <a:lnTo>
                  <a:pt x="0" y="6272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2386" y="4531989"/>
            <a:ext cx="6409803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This chart solidify our argument as type 2 diabetes affected by diet and lifestyle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9753" y="344347"/>
            <a:ext cx="6495068" cy="249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BIVARIATE</a:t>
            </a:r>
          </a:p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 ANALYSIS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986741" cy="10287000"/>
            <a:chOff x="0" y="0"/>
            <a:chExt cx="1573363" cy="23165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73363" cy="2316557"/>
            </a:xfrm>
            <a:custGeom>
              <a:avLst/>
              <a:gdLst/>
              <a:ahLst/>
              <a:cxnLst/>
              <a:rect l="l" t="t" r="r" b="b"/>
              <a:pathLst>
                <a:path w="1573363" h="2316557">
                  <a:moveTo>
                    <a:pt x="0" y="0"/>
                  </a:moveTo>
                  <a:lnTo>
                    <a:pt x="1573363" y="0"/>
                  </a:lnTo>
                  <a:lnTo>
                    <a:pt x="1573363" y="2316557"/>
                  </a:lnTo>
                  <a:lnTo>
                    <a:pt x="0" y="2316557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73363" cy="2354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144000" y="4516610"/>
            <a:ext cx="8243414" cy="5770390"/>
          </a:xfrm>
          <a:custGeom>
            <a:avLst/>
            <a:gdLst/>
            <a:ahLst/>
            <a:cxnLst/>
            <a:rect l="l" t="t" r="r" b="b"/>
            <a:pathLst>
              <a:path w="8243414" h="5770390">
                <a:moveTo>
                  <a:pt x="0" y="0"/>
                </a:moveTo>
                <a:lnTo>
                  <a:pt x="8243414" y="0"/>
                </a:lnTo>
                <a:lnTo>
                  <a:pt x="8243414" y="5770390"/>
                </a:lnTo>
                <a:lnTo>
                  <a:pt x="0" y="5770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986741" y="4014801"/>
            <a:ext cx="11301259" cy="6272199"/>
          </a:xfrm>
          <a:custGeom>
            <a:avLst/>
            <a:gdLst/>
            <a:ahLst/>
            <a:cxnLst/>
            <a:rect l="l" t="t" r="r" b="b"/>
            <a:pathLst>
              <a:path w="11301259" h="6272199">
                <a:moveTo>
                  <a:pt x="0" y="0"/>
                </a:moveTo>
                <a:lnTo>
                  <a:pt x="11301259" y="0"/>
                </a:lnTo>
                <a:lnTo>
                  <a:pt x="11301259" y="6272199"/>
                </a:lnTo>
                <a:lnTo>
                  <a:pt x="0" y="6272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1777" y="4294914"/>
            <a:ext cx="6523187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Certain ethnic groups having a higher prevalence and risk of developing type 2 diabetes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9753" y="344347"/>
            <a:ext cx="6495068" cy="249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BIVARIATE</a:t>
            </a:r>
          </a:p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 ANALYSIS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986741" cy="10287000"/>
            <a:chOff x="0" y="0"/>
            <a:chExt cx="1573363" cy="23165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73363" cy="2316557"/>
            </a:xfrm>
            <a:custGeom>
              <a:avLst/>
              <a:gdLst/>
              <a:ahLst/>
              <a:cxnLst/>
              <a:rect l="l" t="t" r="r" b="b"/>
              <a:pathLst>
                <a:path w="1573363" h="2316557">
                  <a:moveTo>
                    <a:pt x="0" y="0"/>
                  </a:moveTo>
                  <a:lnTo>
                    <a:pt x="1573363" y="0"/>
                  </a:lnTo>
                  <a:lnTo>
                    <a:pt x="1573363" y="2316557"/>
                  </a:lnTo>
                  <a:lnTo>
                    <a:pt x="0" y="2316557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73363" cy="2354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986741" y="4014801"/>
            <a:ext cx="11301259" cy="6272199"/>
          </a:xfrm>
          <a:custGeom>
            <a:avLst/>
            <a:gdLst/>
            <a:ahLst/>
            <a:cxnLst/>
            <a:rect l="l" t="t" r="r" b="b"/>
            <a:pathLst>
              <a:path w="11301259" h="6272199">
                <a:moveTo>
                  <a:pt x="0" y="0"/>
                </a:moveTo>
                <a:lnTo>
                  <a:pt x="11301259" y="0"/>
                </a:lnTo>
                <a:lnTo>
                  <a:pt x="11301259" y="6272199"/>
                </a:lnTo>
                <a:lnTo>
                  <a:pt x="0" y="6272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31777" y="3967176"/>
            <a:ext cx="6523187" cy="305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Lower income levels are consistently linked to a higher risk of developing diabetes, This association is due to several factors, including limited access to quality healthcare and healthy food, higher stress levels, and fewer opportunities for physical activity.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3756" y="323732"/>
            <a:ext cx="4959230" cy="249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BIVARIATE</a:t>
            </a:r>
          </a:p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 ANALYSIS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223817" cy="10287000"/>
            <a:chOff x="0" y="0"/>
            <a:chExt cx="1626751" cy="23165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6751" cy="2316557"/>
            </a:xfrm>
            <a:custGeom>
              <a:avLst/>
              <a:gdLst/>
              <a:ahLst/>
              <a:cxnLst/>
              <a:rect l="l" t="t" r="r" b="b"/>
              <a:pathLst>
                <a:path w="1626751" h="2316557">
                  <a:moveTo>
                    <a:pt x="0" y="0"/>
                  </a:moveTo>
                  <a:lnTo>
                    <a:pt x="1626751" y="0"/>
                  </a:lnTo>
                  <a:lnTo>
                    <a:pt x="1626751" y="2316557"/>
                  </a:lnTo>
                  <a:lnTo>
                    <a:pt x="0" y="2316557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26751" cy="2354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223817" y="4339712"/>
            <a:ext cx="11064183" cy="5947288"/>
          </a:xfrm>
          <a:custGeom>
            <a:avLst/>
            <a:gdLst/>
            <a:ahLst/>
            <a:cxnLst/>
            <a:rect l="l" t="t" r="r" b="b"/>
            <a:pathLst>
              <a:path w="11064183" h="5947288">
                <a:moveTo>
                  <a:pt x="0" y="0"/>
                </a:moveTo>
                <a:lnTo>
                  <a:pt x="11064183" y="0"/>
                </a:lnTo>
                <a:lnTo>
                  <a:pt x="11064183" y="5947288"/>
                </a:lnTo>
                <a:lnTo>
                  <a:pt x="0" y="59472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14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32696" y="4689475"/>
            <a:ext cx="5358424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Normal insulin levels are typically between 2 and 25 𝑈/𝑚𝐿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1602" y="292809"/>
            <a:ext cx="5103537" cy="249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BIVARIATE</a:t>
            </a:r>
          </a:p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 ANALYSIS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210593" cy="10287000"/>
            <a:chOff x="0" y="0"/>
            <a:chExt cx="1623773" cy="23165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3773" cy="2316557"/>
            </a:xfrm>
            <a:custGeom>
              <a:avLst/>
              <a:gdLst/>
              <a:ahLst/>
              <a:cxnLst/>
              <a:rect l="l" t="t" r="r" b="b"/>
              <a:pathLst>
                <a:path w="1623773" h="2316557">
                  <a:moveTo>
                    <a:pt x="0" y="0"/>
                  </a:moveTo>
                  <a:lnTo>
                    <a:pt x="1623773" y="0"/>
                  </a:lnTo>
                  <a:lnTo>
                    <a:pt x="1623773" y="2316557"/>
                  </a:lnTo>
                  <a:lnTo>
                    <a:pt x="0" y="2316557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23773" cy="2354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210593" y="4139039"/>
            <a:ext cx="11077407" cy="6147961"/>
          </a:xfrm>
          <a:custGeom>
            <a:avLst/>
            <a:gdLst/>
            <a:ahLst/>
            <a:cxnLst/>
            <a:rect l="l" t="t" r="r" b="b"/>
            <a:pathLst>
              <a:path w="11077407" h="6147961">
                <a:moveTo>
                  <a:pt x="0" y="0"/>
                </a:moveTo>
                <a:lnTo>
                  <a:pt x="11077407" y="0"/>
                </a:lnTo>
                <a:lnTo>
                  <a:pt x="11077407" y="6147961"/>
                </a:lnTo>
                <a:lnTo>
                  <a:pt x="0" y="61479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32696" y="4689475"/>
            <a:ext cx="5358424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No direct relation between smoking and diabetes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1602" y="292809"/>
            <a:ext cx="5103537" cy="249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BIVARIATE</a:t>
            </a:r>
          </a:p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 ANALYSIS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603647" cy="10287000"/>
            <a:chOff x="0" y="0"/>
            <a:chExt cx="1712286" cy="23165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12286" cy="2316557"/>
            </a:xfrm>
            <a:custGeom>
              <a:avLst/>
              <a:gdLst/>
              <a:ahLst/>
              <a:cxnLst/>
              <a:rect l="l" t="t" r="r" b="b"/>
              <a:pathLst>
                <a:path w="1712286" h="2316557">
                  <a:moveTo>
                    <a:pt x="0" y="0"/>
                  </a:moveTo>
                  <a:lnTo>
                    <a:pt x="1712286" y="0"/>
                  </a:lnTo>
                  <a:lnTo>
                    <a:pt x="1712286" y="2316557"/>
                  </a:lnTo>
                  <a:lnTo>
                    <a:pt x="0" y="2316557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12286" cy="2354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603647" y="4737100"/>
            <a:ext cx="10684353" cy="5549900"/>
          </a:xfrm>
          <a:custGeom>
            <a:avLst/>
            <a:gdLst/>
            <a:ahLst/>
            <a:cxnLst/>
            <a:rect l="l" t="t" r="r" b="b"/>
            <a:pathLst>
              <a:path w="10684353" h="5549900">
                <a:moveTo>
                  <a:pt x="0" y="0"/>
                </a:moveTo>
                <a:lnTo>
                  <a:pt x="10684353" y="0"/>
                </a:lnTo>
                <a:lnTo>
                  <a:pt x="10684353" y="5549900"/>
                </a:lnTo>
                <a:lnTo>
                  <a:pt x="0" y="55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1" t="-1295" r="-11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32696" y="4689475"/>
            <a:ext cx="5358424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No direct relation between Alcohol Consumption and Diabetes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1602" y="292809"/>
            <a:ext cx="5103537" cy="249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BIVARIATE</a:t>
            </a:r>
          </a:p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 ANALYSIS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253028" cy="10287000"/>
            <a:chOff x="0" y="0"/>
            <a:chExt cx="1858522" cy="23165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58522" cy="2316557"/>
            </a:xfrm>
            <a:custGeom>
              <a:avLst/>
              <a:gdLst/>
              <a:ahLst/>
              <a:cxnLst/>
              <a:rect l="l" t="t" r="r" b="b"/>
              <a:pathLst>
                <a:path w="1858522" h="2316557">
                  <a:moveTo>
                    <a:pt x="0" y="0"/>
                  </a:moveTo>
                  <a:lnTo>
                    <a:pt x="1858522" y="0"/>
                  </a:lnTo>
                  <a:lnTo>
                    <a:pt x="1858522" y="2316557"/>
                  </a:lnTo>
                  <a:lnTo>
                    <a:pt x="0" y="2316557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58522" cy="2354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513183" y="3770456"/>
            <a:ext cx="9774817" cy="6516544"/>
          </a:xfrm>
          <a:custGeom>
            <a:avLst/>
            <a:gdLst/>
            <a:ahLst/>
            <a:cxnLst/>
            <a:rect l="l" t="t" r="r" b="b"/>
            <a:pathLst>
              <a:path w="9774817" h="6516544">
                <a:moveTo>
                  <a:pt x="0" y="0"/>
                </a:moveTo>
                <a:lnTo>
                  <a:pt x="9774817" y="0"/>
                </a:lnTo>
                <a:lnTo>
                  <a:pt x="9774817" y="6516544"/>
                </a:lnTo>
                <a:lnTo>
                  <a:pt x="0" y="6516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70075" y="4470400"/>
            <a:ext cx="6512879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Shows there is correlation between family history and diagnosed individuals, this means some diabetes types are genetic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0140" y="406193"/>
            <a:ext cx="5103537" cy="249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BIVARIATE</a:t>
            </a:r>
          </a:p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 ANALYSIS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994438"/>
            <a:ext cx="18288000" cy="8292560"/>
            <a:chOff x="0" y="0"/>
            <a:chExt cx="4118280" cy="18674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18280" cy="1867408"/>
            </a:xfrm>
            <a:custGeom>
              <a:avLst/>
              <a:gdLst/>
              <a:ahLst/>
              <a:cxnLst/>
              <a:rect l="l" t="t" r="r" b="b"/>
              <a:pathLst>
                <a:path w="4118280" h="1867408">
                  <a:moveTo>
                    <a:pt x="4118280" y="0"/>
                  </a:moveTo>
                  <a:lnTo>
                    <a:pt x="4118280" y="1867408"/>
                  </a:lnTo>
                  <a:lnTo>
                    <a:pt x="0" y="18674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18280" cy="1905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20028" y="2819271"/>
            <a:ext cx="14647945" cy="200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8E6F8"/>
                </a:solidFill>
                <a:latin typeface="Lexend Deca"/>
                <a:ea typeface="Lexend Deca"/>
                <a:cs typeface="Lexend Deca"/>
                <a:sym typeface="Lexend Deca"/>
              </a:rPr>
              <a:t>Conclusion 1 </a:t>
            </a:r>
            <a:r>
              <a:rPr lang="en-US" sz="2499">
                <a:solidFill>
                  <a:srgbClr val="F8E6F8"/>
                </a:solidFill>
                <a:latin typeface="Lexend Deca"/>
                <a:ea typeface="Lexend Deca"/>
                <a:cs typeface="Lexend Deca"/>
                <a:sym typeface="Lexend Deca"/>
                <a:hlinkClick r:id="rId2" tooltip="https://www.google.com/search?q=market+research+and+data+collection+firms&amp;sca_esv=6036db4e80af994f&amp;sxsrf=AE3TifPLX97Nbfvsauw49hKWXa2m7lPvYA%3A1764263738354&amp;ei=OocoafeuFZmPi-gPlv-uuAE&amp;ved=2ahUKEwju2-DT6pKRAxVA2wIHHUFfD_0QgK4QegQIARAC&amp;uact=5&amp;oq=survey+company+&amp;gs_lp=Egxnd3Mtd2l6LXNlcnAiD3N1cnZleSBjb21wYW55IDIKECMYgAQYJxiKBTIFEAAYgAQyBRAAGIAEMgUQABiABDIFEAAYgAQyBRAAGIAEMgUQABiABDIFEAAYgAQyBRAAGIAEMgUQABiABEizGVDoBljeEnABeAGQAQCYAc8BoAHODaoBBTAuOS4xuAEDyAEA-AEBmAIEoAKABMICChAAGLADGNYEGEfCAgYQABgWGB6YAwCIBgGQBgiSBwMxLjOgB9FasgcDMC4zuAf5A8IHBTItMy4xyAcd&amp;sclient=gws-wiz-serp&amp;mstk=AUtExfABmiMnoM_evnokXjRNOXv4zZiczn346bvNvdcdigFa1PTaAJWbBvbKzyKD2hqnvmsv8QuR8rhPjgOj-isJ2dGjwSSI4UGqtyC3W-ri4UV1Ntv1-Jt6v6Wb4C67mVa2cSmXdV8R1iW6JEaX-L8jcTTjU1QjVbSrffPwYvb0OSfENPRd3vFHPA-WpP7VZWa522gIuD-s764r69psV8vpj4VhgJOO24zWaTN0QaHQyHstV1aE8egY5yS6F6JKcVi7u7gMO8hNK0OwGCnNGuM7i84U&amp;csui=3"/>
              </a:rPr>
              <a:t>market research and data collection firm</a:t>
            </a:r>
            <a:r>
              <a:rPr lang="en-US" sz="2499">
                <a:solidFill>
                  <a:srgbClr val="F8E6F8"/>
                </a:solidFill>
                <a:latin typeface="Lexend Deca"/>
                <a:ea typeface="Lexend Deca"/>
                <a:cs typeface="Lexend Deca"/>
                <a:sym typeface="Lexend Deca"/>
              </a:rPr>
              <a:t> to gather consumer insights</a:t>
            </a:r>
          </a:p>
          <a:p>
            <a:pPr marL="388623" lvl="1" indent="-194312" algn="just">
              <a:lnSpc>
                <a:spcPts val="2520"/>
              </a:lnSpc>
              <a:buAutoNum type="arabicPeriod"/>
            </a:pPr>
            <a:r>
              <a:rPr lang="en-US" sz="1800">
                <a:solidFill>
                  <a:srgbClr val="F8E6F8"/>
                </a:solidFill>
                <a:latin typeface="Lexend Deca"/>
                <a:ea typeface="Lexend Deca"/>
                <a:cs typeface="Lexend Deca"/>
                <a:sym typeface="Lexend Deca"/>
              </a:rPr>
              <a:t>Lifestyle habits strongly influence diabetes progression</a:t>
            </a:r>
          </a:p>
          <a:p>
            <a:pPr marL="388623" lvl="1" indent="-194312" algn="just">
              <a:lnSpc>
                <a:spcPts val="2520"/>
              </a:lnSpc>
              <a:buAutoNum type="arabicPeriod"/>
            </a:pPr>
            <a:r>
              <a:rPr lang="en-US" sz="1800">
                <a:solidFill>
                  <a:srgbClr val="F8E6F8"/>
                </a:solidFill>
                <a:latin typeface="Lexend Deca"/>
                <a:ea typeface="Lexend Deca"/>
                <a:cs typeface="Lexend Deca"/>
                <a:sym typeface="Lexend Deca"/>
              </a:rPr>
              <a:t>Early detection is essential</a:t>
            </a:r>
          </a:p>
          <a:p>
            <a:pPr marL="388623" lvl="1" indent="-194312" algn="just">
              <a:lnSpc>
                <a:spcPts val="2520"/>
              </a:lnSpc>
              <a:buAutoNum type="arabicPeriod"/>
            </a:pPr>
            <a:r>
              <a:rPr lang="en-US" sz="1800">
                <a:solidFill>
                  <a:srgbClr val="F8E6F8"/>
                </a:solidFill>
                <a:latin typeface="Lexend Deca"/>
                <a:ea typeface="Lexend Deca"/>
                <a:cs typeface="Lexend Deca"/>
                <a:sym typeface="Lexend Deca"/>
              </a:rPr>
              <a:t>Demographic factors contribute to risk variance</a:t>
            </a:r>
          </a:p>
          <a:p>
            <a:pPr marL="388623" lvl="1" indent="-194312" algn="just">
              <a:lnSpc>
                <a:spcPts val="2520"/>
              </a:lnSpc>
              <a:buAutoNum type="arabicPeriod"/>
            </a:pPr>
            <a:r>
              <a:rPr lang="en-US" sz="1800">
                <a:solidFill>
                  <a:srgbClr val="F8E6F8"/>
                </a:solidFill>
                <a:latin typeface="Lexend Deca"/>
                <a:ea typeface="Lexend Deca"/>
                <a:cs typeface="Lexend Deca"/>
                <a:sym typeface="Lexend Deca"/>
              </a:rPr>
              <a:t>Smoking and alcohol habits remain risk accelerators</a:t>
            </a:r>
          </a:p>
          <a:p>
            <a:pPr marL="388623" lvl="1" indent="-194312" algn="just">
              <a:lnSpc>
                <a:spcPts val="2520"/>
              </a:lnSpc>
              <a:buAutoNum type="arabicPeriod"/>
            </a:pPr>
            <a:r>
              <a:rPr lang="en-US" sz="1800">
                <a:solidFill>
                  <a:srgbClr val="F8E6F8"/>
                </a:solidFill>
                <a:latin typeface="Lexend Deca"/>
                <a:ea typeface="Lexend Deca"/>
                <a:cs typeface="Lexend Deca"/>
                <a:sym typeface="Lexend Deca"/>
              </a:rPr>
              <a:t>Physical activity significantly improves diabetes outcomes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50101" y="339075"/>
            <a:ext cx="11187798" cy="1285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9999">
                <a:solidFill>
                  <a:srgbClr val="31356E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20028" y="5780460"/>
            <a:ext cx="14647945" cy="295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8E6F8"/>
                </a:solidFill>
                <a:latin typeface="Lexend Deca"/>
                <a:ea typeface="Lexend Deca"/>
                <a:cs typeface="Lexend Deca"/>
                <a:sym typeface="Lexend Deca"/>
              </a:rPr>
              <a:t>Conclusion 2 pharmaceutical company analyzing this dataset to maximize revenue opportunities, </a:t>
            </a:r>
          </a:p>
          <a:p>
            <a:pPr marL="388620" lvl="1" indent="-194310" algn="just">
              <a:lnSpc>
                <a:spcPts val="2520"/>
              </a:lnSpc>
              <a:buAutoNum type="arabicPeriod"/>
            </a:pPr>
            <a:r>
              <a:rPr lang="en-US" sz="1800">
                <a:solidFill>
                  <a:srgbClr val="F8E6F8"/>
                </a:solidFill>
                <a:latin typeface="Lexend Deca"/>
                <a:ea typeface="Lexend Deca"/>
                <a:cs typeface="Lexend Deca"/>
                <a:sym typeface="Lexend Deca"/>
              </a:rPr>
              <a:t>Geographic clustering enables market expansion</a:t>
            </a:r>
          </a:p>
          <a:p>
            <a:pPr marL="388620" lvl="1" indent="-194310" algn="just">
              <a:lnSpc>
                <a:spcPts val="2520"/>
              </a:lnSpc>
              <a:buAutoNum type="arabicPeriod"/>
            </a:pPr>
            <a:r>
              <a:rPr lang="en-US" sz="1800">
                <a:solidFill>
                  <a:srgbClr val="F8E6F8"/>
                </a:solidFill>
                <a:latin typeface="Lexend Deca"/>
                <a:ea typeface="Lexend Deca"/>
                <a:cs typeface="Lexend Deca"/>
                <a:sym typeface="Lexend Deca"/>
              </a:rPr>
              <a:t>Chronic-management products are recurring revenue streams</a:t>
            </a:r>
          </a:p>
          <a:p>
            <a:pPr marL="388620" lvl="1" indent="-194310" algn="just">
              <a:lnSpc>
                <a:spcPts val="2520"/>
              </a:lnSpc>
              <a:buAutoNum type="arabicPeriod"/>
            </a:pPr>
            <a:r>
              <a:rPr lang="en-US" sz="1800">
                <a:solidFill>
                  <a:srgbClr val="F8E6F8"/>
                </a:solidFill>
                <a:latin typeface="Lexend Deca"/>
                <a:ea typeface="Lexend Deca"/>
                <a:cs typeface="Lexend Deca"/>
                <a:sym typeface="Lexend Deca"/>
              </a:rPr>
              <a:t>Opportunities for consumable or subscription-based products </a:t>
            </a:r>
          </a:p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F8E6F8"/>
                </a:solidFill>
                <a:latin typeface="Lexend Deca"/>
                <a:ea typeface="Lexend Deca"/>
                <a:cs typeface="Lexend Deca"/>
                <a:sym typeface="Lexend Deca"/>
              </a:rPr>
              <a:t>       - consumables (test strips, needles, patch sensors)</a:t>
            </a:r>
          </a:p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F8E6F8"/>
                </a:solidFill>
                <a:latin typeface="Lexend Deca"/>
                <a:ea typeface="Lexend Deca"/>
                <a:cs typeface="Lexend Deca"/>
                <a:sym typeface="Lexend Deca"/>
              </a:rPr>
              <a:t>       - subscription health apps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8E6F8"/>
                </a:solidFill>
                <a:latin typeface="Lexend Deca"/>
                <a:ea typeface="Lexend Deca"/>
                <a:cs typeface="Lexend Deca"/>
                <a:sym typeface="Lexend Deca"/>
              </a:rPr>
              <a:t>  4. Preventive treatment markets are highly viable</a:t>
            </a:r>
          </a:p>
          <a:p>
            <a:pPr algn="just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8E6F8"/>
                </a:solidFill>
                <a:latin typeface="Lexend Deca"/>
                <a:ea typeface="Lexend Deca"/>
                <a:cs typeface="Lexend Deca"/>
                <a:sym typeface="Lexend Deca"/>
              </a:rPr>
              <a:t> - promoting preventive therapeutics, monitoring devices, or lifestyle-linked prescriptions can generate substantial recurring revenue.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5783" y="4274503"/>
            <a:ext cx="1695643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 For Your Attention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</Words>
  <Application>Microsoft Office PowerPoint</Application>
  <PresentationFormat>Custom</PresentationFormat>
  <Paragraphs>104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Calibri</vt:lpstr>
      <vt:lpstr>Canva Sans Bold</vt:lpstr>
      <vt:lpstr>Arial</vt:lpstr>
      <vt:lpstr>Futura Display</vt:lpstr>
      <vt:lpstr>Lexend Deca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Mid Project</dc:title>
  <cp:lastModifiedBy>ALI IBRAHIM</cp:lastModifiedBy>
  <cp:revision>2</cp:revision>
  <dcterms:created xsi:type="dcterms:W3CDTF">2006-08-16T00:00:00Z</dcterms:created>
  <dcterms:modified xsi:type="dcterms:W3CDTF">2025-11-27T18:22:20Z</dcterms:modified>
  <dc:identifier>DAG5XDf_Rqs</dc:identifier>
</cp:coreProperties>
</file>